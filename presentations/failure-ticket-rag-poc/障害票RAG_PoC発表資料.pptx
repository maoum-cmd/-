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5"/>
                </a:solidFill>
                <a:latin typeface="Yu Gothic"/>
                <a:ea typeface="Yu Gothic"/>
              </a:rPr>
              <a:t>AI技術検証プロジェクト｜PoC報告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障害票を活用した
運用改善テーマ発見AIのPoC検証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5"/>
                </a:solidFill>
                <a:latin typeface="Yu Gothic"/>
                <a:ea typeface="Yu Gothic"/>
              </a:rPr>
              <a:t>Basic RAG → Query Rewrite → Critic → Self-RAG による段階的改善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Yu Gothic"/>
                <a:ea typeface="Yu Gothic"/>
              </a:rPr>
              <a:t>ドキュメント作成担当 ／ AI技術検証プロジェクト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背景・目的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発表のゴール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C2C2C"/>
                </a:solidFill>
                <a:latin typeface="Yu Gothic"/>
                <a:ea typeface="Yu Gothic"/>
              </a:rPr>
              <a:t>• 障害票をナレッジとして蓄積し、運用改善テーマを自動生成するAIを構築した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2C2C"/>
                </a:solidFill>
                <a:latin typeface="Yu Gothic"/>
                <a:ea typeface="Yu Gothic"/>
              </a:rPr>
              <a:t>• 本発表では「システム紹介」ではなく、構築〜改善の試行錯誤プロセスを説明する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2C2C"/>
                </a:solidFill>
                <a:latin typeface="Yu Gothic"/>
                <a:ea typeface="Yu Gothic"/>
              </a:rPr>
              <a:t>• 各段階を「発生した課題 → 原因分析 → 改善 → 結果」の流れで整理する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1078992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F"/>
                </a:solidFill>
                <a:latin typeface="Yu Gothic"/>
                <a:ea typeface="Yu Gothic"/>
              </a:rPr>
              <a:t>本資料の語り方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6667" y="4480560"/>
            <a:ext cx="2194560" cy="7772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発生した課題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9515" y="4572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1267" y="4480560"/>
            <a:ext cx="2194560" cy="77724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原因分析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4115" y="4572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4480560"/>
            <a:ext cx="2194560" cy="7772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8715" y="4572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0467" y="4480560"/>
            <a:ext cx="2194560" cy="77724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システム全体構成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Dify 上に構築した障害票ナレッジ活用AI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Yu Gothic"/>
                <a:ea typeface="Yu Gothic"/>
              </a:rPr>
              <a:t>• 障害票をナレッジベースとして登録（Dify）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Yu Gothic"/>
                <a:ea typeface="Yu Gothic"/>
              </a:rPr>
              <a:t>• ユーザーが入力した障害内容に対し、以下3機能を実行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291840" cy="6400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類似障害検索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過去の類似チケットを検索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834640"/>
            <a:ext cx="3291840" cy="6400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障害情報抽出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原因・対応・恒久対策を整理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834640"/>
            <a:ext cx="3291840" cy="6400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改善テーマ生成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テーマ・内容・期待効果を提案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F"/>
                </a:solidFill>
                <a:latin typeface="Yu Gothic"/>
                <a:ea typeface="Yu Gothic"/>
              </a:rPr>
              <a:t>技術進化の軸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2367" y="5212080"/>
            <a:ext cx="2286000" cy="5943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Basic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6655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72687" y="5212080"/>
            <a:ext cx="2286000" cy="59436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Query Rewrite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6975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5212080"/>
            <a:ext cx="2286000" cy="5943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Critic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7295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93327" y="5212080"/>
            <a:ext cx="2286000" cy="59436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Self-RAG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Basic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初期構成：検索 → 抽出 → テーマ生成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2367" y="1280160"/>
            <a:ext cx="2286000" cy="6400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6655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1280160"/>
            <a:ext cx="2286000" cy="64008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ナレッジ検索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6975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280160"/>
            <a:ext cx="2286000" cy="6400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障害情報抽出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7295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3327" y="1280160"/>
            <a:ext cx="2286000" cy="64008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改善テーマ生成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F"/>
                </a:solidFill>
                <a:latin typeface="Yu Gothic"/>
                <a:ea typeface="Yu Gothic"/>
              </a:rPr>
              <a:t>【障害情報抽出】使用プロンプト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あなたは障害分析担当です。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検索結果から次を整理する：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障害名 / 原因 / 対応 / 恒久対策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486400" cy="3840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F"/>
                </a:solidFill>
                <a:latin typeface="Yu Gothic"/>
                <a:ea typeface="Yu Gothic"/>
              </a:rPr>
              <a:t>【改善テーマ生成】使用プロンプト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あなたは運用改善担当です。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障害原因を分析し、次を作成する：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改善テーマ / 改善内容 / 期待効果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Basic RAGで発生した課題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課題 → 原因分析 → 学び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5029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成功例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バックアップ失敗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DB接続エラー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容量不足による障害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657600" cy="502920"/>
          </a:xfrm>
          <a:prstGeom prst="round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課題：表現ゆれに弱い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「DBトラブル」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「バックアップ問題」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言い回しが違うと検索が外れる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3383280" cy="502920"/>
          </a:xfrm>
          <a:prstGeom prst="roundRect">
            <a:avLst/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学び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回答品質は検索品質に依存する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生成改善だけでは限界がある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F"/>
                </a:solidFill>
                <a:latin typeface="Yu Gothic"/>
                <a:ea typeface="Yu Gothic"/>
              </a:rPr>
              <a:t>原因分析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ユーザー発話の表現ゆれを吸収する仕組みが無い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検索クエリが原文のままのため、ナレッジ側の表記と一致しないケースで失敗する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Query Rewrite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目的：表現ゆれ対策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Yu Gothic"/>
                <a:ea typeface="Yu Gothic"/>
              </a:rPr>
              <a:t>検索前にクエリを書き換えて、ナレッジと突き合わせやすくする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3D40"/>
                </a:solidFill>
                <a:latin typeface="Yu Gothic"/>
                <a:ea typeface="Yu Gothic"/>
              </a:rPr>
              <a:t>失敗したプロンプト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2C2C"/>
                </a:solidFill>
                <a:latin typeface="Yu Gothic"/>
                <a:ea typeface="Yu Gothic"/>
              </a:rPr>
              <a:t>「質問を検索しやすい形式へ変換してください」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1247120" cy="201168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3D40"/>
                </a:solidFill>
                <a:latin typeface="Yu Gothic"/>
                <a:ea typeface="Yu Gothic"/>
              </a:rPr>
              <a:t>問題：変換しすぎた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  <a:latin typeface="Yu Gothic"/>
                <a:ea typeface="Yu Gothic"/>
              </a:rPr>
              <a:t>例）「DBトラブル」 → 「運用改善課題」
具体的な障害語が消え、検索精度がかえって悪化した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Query Rewriteによる改善結果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改善 → 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F"/>
                </a:solidFill>
                <a:latin typeface="Yu Gothic"/>
                <a:ea typeface="Yu Gothic"/>
              </a:rPr>
              <a:t>改善後プロンプトの重要な制約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74320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原文を維持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障害語を消さない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737360"/>
            <a:ext cx="274320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説明しない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余計な文章を付けない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74320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言い換えすぎない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過度な一般化を禁止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737360"/>
            <a:ext cx="274320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JSONのみ出力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形式を固定する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6A4F"/>
                </a:solidFill>
                <a:latin typeface="Yu Gothic"/>
                <a:ea typeface="Yu Gothic"/>
              </a:rPr>
              <a:t>結果：表現ゆれケースでも検索成功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56616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Yu Gothic"/>
                <a:ea typeface="Yu Gothic"/>
              </a:rPr>
              <a:t>DBトラブル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B3A5F"/>
                </a:solidFill>
                <a:latin typeface="Yu Gothic"/>
                <a:ea typeface="Yu Gothic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6A4F"/>
                </a:solidFill>
                <a:latin typeface="Yu Gothic"/>
                <a:ea typeface="Yu Gothic"/>
              </a:rPr>
              <a:t>検索成功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749039"/>
            <a:ext cx="356616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Yu Gothic"/>
                <a:ea typeface="Yu Gothic"/>
              </a:rPr>
              <a:t>バックアップ問題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B3A5F"/>
                </a:solidFill>
                <a:latin typeface="Yu Gothic"/>
                <a:ea typeface="Yu Gothic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6A4F"/>
                </a:solidFill>
                <a:latin typeface="Yu Gothic"/>
                <a:ea typeface="Yu Gothic"/>
              </a:rPr>
              <a:t>検索成功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749039"/>
            <a:ext cx="356616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Yu Gothic"/>
                <a:ea typeface="Yu Gothic"/>
              </a:rPr>
              <a:t>容量管理不足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B3A5F"/>
                </a:solidFill>
                <a:latin typeface="Yu Gothic"/>
                <a:ea typeface="Yu Gothic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6A4F"/>
                </a:solidFill>
                <a:latin typeface="Yu Gothic"/>
                <a:ea typeface="Yu Gothic"/>
              </a:rPr>
              <a:t>検索成功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Critic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目的：改善テーマの品質評価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Yu Gothic"/>
                <a:ea typeface="Yu Gothic"/>
              </a:rPr>
              <a:t>検索は改善されたが、「生成された改善テーマ自体の妥当性」を担保する仕組みが必要になった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3D40"/>
                </a:solidFill>
                <a:latin typeface="Yu Gothic"/>
                <a:ea typeface="Yu Gothic"/>
              </a:rPr>
              <a:t>初期プロンプト（失敗の起点）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• あなたは運用改善レビュー担当です。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• 改善テーマの妥当性を評価してください。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F"/>
                </a:solidFill>
                <a:latin typeface="Yu Gothic"/>
                <a:ea typeface="Yu Gothic"/>
              </a:rPr>
              <a:t>評価軸（導入）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356616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関連性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質問・障害内容とテーマが対応しているか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297680"/>
            <a:ext cx="356616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再発防止効果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50292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同種障害の再発を抑えられるか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97680"/>
            <a:ext cx="356616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実現可能性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0292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現場で実行可能な施策か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Critic改善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課題 → 原因 → 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3D40"/>
                </a:solidFill>
                <a:latin typeface="Yu Gothic"/>
                <a:ea typeface="Yu Gothic"/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無関係なテーマでも総合評価◎になるケース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例：ユーザー質問と無関係な提案が高評価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27432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B2E"/>
                </a:solidFill>
                <a:latin typeface="Yu Gothic"/>
                <a:ea typeface="Yu Gothic"/>
              </a:rPr>
              <a:t>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ユーザー質問を評価対象に含めていなかった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テーマ単体の「もっともらしさ」だけで採点していた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56616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A4F"/>
                </a:solidFill>
                <a:latin typeface="Yu Gothic"/>
                <a:ea typeface="Yu Gothic"/>
              </a:rPr>
              <a:t>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評価入力にユーザー質問を追加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関連性を必須ゲートにする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• 低関連は総合評価を落とす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F"/>
                </a:solidFill>
                <a:latin typeface="Yu Gothic"/>
                <a:ea typeface="Yu Gothic"/>
              </a:rPr>
              <a:t>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質問と無関係な改善テーマの誤高評価を抑制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• 関連性・再発防止・実現可能性のバランスでレビュー可能になった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Self-RAG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目的：検索・生成の自己判定と再実行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B2E"/>
                </a:solidFill>
                <a:latin typeface="Yu Gothic"/>
                <a:ea typeface="Yu Gothic"/>
              </a:rPr>
              <a:t>※画像プロンプトに詳細が薄いため、Criticの限界を踏まえた自己検証型RAGとして補完（仮定を明示）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• Criticは「生成後の評価」に強いが、検索不足・根拠不足を途中で止められない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• Self-RAGでは、モデル自身が「検索が必要か」「根拠は十分か」を判定する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• 不足なら再検索・再生成し、品質ゲートを通過したものだけを返す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3657600"/>
            <a:ext cx="1920240" cy="7772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6575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6887" y="3657600"/>
            <a:ext cx="1920240" cy="77724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要検索判定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5415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5727" y="3657600"/>
            <a:ext cx="1920240" cy="7772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検索/生成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4255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4567" y="3657600"/>
            <a:ext cx="1920240" cy="77724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自己評価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3095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F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3407" y="3657600"/>
            <a:ext cx="1920240" cy="7772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出力 or 再実行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Yu Gothic"/>
                <a:ea typeface="Yu Gothic"/>
              </a:rPr>
              <a:t>判定例：検索不要 / 再検索が必要 / 根拠不足で再生成 / 品質OKで確定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Self-RAG改善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改善内容と結果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645920" cy="10058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改善1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280160"/>
            <a:ext cx="94183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554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検索要否の自己チェックを導入し、無駄な検索と検索漏れを削減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1645920" cy="10058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改善2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651760"/>
            <a:ext cx="94183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回答根拠（参照障害票）の十分性をチェックし、根拠不足なら再検索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645920" cy="10058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改善3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023360"/>
            <a:ext cx="94183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42976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Yu Gothic"/>
                <a:ea typeface="Yu Gothic"/>
              </a:rPr>
              <a:t>Critic評価と組み合わせ、最終出力の安定性を向上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試行錯誤の変遷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課題と打ち手の俯瞰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56032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段階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280160"/>
            <a:ext cx="420624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発生した課題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280160"/>
            <a:ext cx="420624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改善の打ち手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86868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F"/>
                </a:solidFill>
                <a:latin typeface="Yu Gothic"/>
                <a:ea typeface="Yu Gothic"/>
              </a:rPr>
              <a:t>Basic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94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表現ゆれに弱い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94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検索品質が回答品質を決める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12471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F"/>
                </a:solidFill>
                <a:latin typeface="Yu Gothic"/>
                <a:ea typeface="Yu Gothic"/>
              </a:rPr>
              <a:t>Query Rewrite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54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変換しすぎて意味が消える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154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原文維持・JSON制約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11247120" cy="86868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F"/>
                </a:solidFill>
                <a:latin typeface="Yu Gothic"/>
                <a:ea typeface="Yu Gothic"/>
              </a:rPr>
              <a:t>Critic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114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無関係テーマが高評価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114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ユーザー質問を評価に含める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12471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F"/>
                </a:solidFill>
                <a:latin typeface="Yu Gothic"/>
                <a:ea typeface="Yu Gothic"/>
              </a:rPr>
              <a:t>Self-RAG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074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途中失敗を止められない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074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自己判定＋再検索ループ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評価結果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定性評価（数値は例示）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6B2E"/>
                </a:solidFill>
                <a:latin typeface="Yu Gothic"/>
                <a:ea typeface="Yu Gothic"/>
              </a:rPr>
              <a:t>※定量値は画像プロンプトに無いため、PoCで想定される相対改善の例示です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83464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観点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91640"/>
            <a:ext cx="182880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Basic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91640"/>
            <a:ext cx="182880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Rewrite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91640"/>
            <a:ext cx="182880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Critic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91640"/>
            <a:ext cx="182880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Self-RAG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283464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F"/>
                </a:solidFill>
                <a:latin typeface="Yu Gothic"/>
                <a:ea typeface="Yu Gothic"/>
              </a:rPr>
              <a:t>表現ゆれ耐性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3317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4414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3317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4414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3317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4414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3317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4414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2834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272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F"/>
                </a:solidFill>
                <a:latin typeface="Yu Gothic"/>
                <a:ea typeface="Yu Gothic"/>
              </a:rPr>
              <a:t>検索ヒット率（例示）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0175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1272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30175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31272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0175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1272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0175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1272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03320"/>
            <a:ext cx="283464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813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F"/>
                </a:solidFill>
                <a:latin typeface="Yu Gothic"/>
                <a:ea typeface="Yu Gothic"/>
              </a:rPr>
              <a:t>テーマ妥当性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7033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813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37033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3813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7033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3813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7033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3813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89120"/>
            <a:ext cx="2834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4988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F"/>
                </a:solidFill>
                <a:latin typeface="Yu Gothic"/>
                <a:ea typeface="Yu Gothic"/>
              </a:rPr>
              <a:t>無関係提案の抑制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43891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6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43891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43891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43891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074920"/>
            <a:ext cx="283464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1846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F"/>
                </a:solidFill>
                <a:latin typeface="Yu Gothic"/>
                <a:ea typeface="Yu Gothic"/>
              </a:rPr>
              <a:t>出力安定性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50749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0" y="5184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4960" y="50749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5184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50749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5184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5074920"/>
            <a:ext cx="1828800" cy="59436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5184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PoCで得られた知見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再現可能な学び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731520" cy="9144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F"/>
                </a:solidFill>
                <a:latin typeface="Yu Gothic"/>
                <a:ea typeface="Yu Gothic"/>
              </a:rPr>
              <a:t>回答品質は検索品質に依存する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生成プロンプト改善だけでは限界。まず当てる検索を作る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731520" cy="9144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F"/>
                </a:solidFill>
                <a:latin typeface="Yu Gothic"/>
                <a:ea typeface="Yu Gothic"/>
              </a:rPr>
              <a:t>クエリ変換は制約設計が命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「検索しやすく」だけでは過剰一般化が起きる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0440"/>
            <a:ext cx="731520" cy="9144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F"/>
                </a:solidFill>
                <a:latin typeface="Yu Gothic"/>
                <a:ea typeface="Yu Gothic"/>
              </a:rPr>
              <a:t>評価にはユーザー質問を必ず含める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テーマ単体評価は誤高評価を招く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731520" cy="9144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F"/>
                </a:solidFill>
                <a:latin typeface="Yu Gothic"/>
                <a:ea typeface="Yu Gothic"/>
              </a:rPr>
              <a:t>段階的にゲートを増やす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Rewrite → Critic → Self で失敗モードを潰す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今後の展望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PoCから次のステップへ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1920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2064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ナレッジ拡充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本番障害票の追加投入とチャンク設計の見直し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577840" cy="1920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645920"/>
            <a:ext cx="512064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評価自動化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77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関連性・再発防止・実現可能性の自動スコアリング定着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577840" cy="1920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840480"/>
            <a:ext cx="512064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運用組み込み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改善テーマ提案を運用改善会議のインプットにする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566160"/>
            <a:ext cx="5577840" cy="1920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3840480"/>
            <a:ext cx="5120640" cy="502920"/>
          </a:xfrm>
          <a:prstGeom prst="round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継続学習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72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Yu Gothic"/>
                <a:ea typeface="Yu Gothic"/>
              </a:rPr>
              <a:t>採用された改善テーマをナレッジへフィードバック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Yu Gothic"/>
                <a:ea typeface="Yu Gothic"/>
              </a:rPr>
              <a:t>課題→改善の繰り返しで品質を段階的に向上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Yu Gothic"/>
                <a:ea typeface="Yu Gothic"/>
              </a:rPr>
              <a:t>• 障害票ナレッジを使い、類似検索・情報抽出・改善テーマ生成をDify上で実現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Yu Gothic"/>
                <a:ea typeface="Yu Gothic"/>
              </a:rPr>
              <a:t>• Basic RAGの表現ゆれ課題を、Query Rewriteの制約設計で改善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Yu Gothic"/>
                <a:ea typeface="Yu Gothic"/>
              </a:rPr>
              <a:t>• Criticでテーマ品質を評価し、ユーザー質問を評価対象に含めることで誤高評価を抑制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Yu Gothic"/>
                <a:ea typeface="Yu Gothic"/>
              </a:rPr>
              <a:t>• Self-RAGで検索・根拠の自己判定と再実行を加え、出力を安定化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単なるシステム紹介ではなく、
「発生した課題 → 原因分析 → 改善 → 結果」の連続が本PoCの本質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障害票RAG PoC｜AI技術検証プロジェクト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Yu Gothic"/>
                <a:ea typeface="Yu Gothic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